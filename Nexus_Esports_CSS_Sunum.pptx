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  <a:p>
            <a:pPr algn="ctr"/>
            <a:endParaRPr lang="tr-TR" dirty="0"/>
          </a:p>
          <a:p>
            <a:pPr algn="ctr"/>
            <a:endParaRPr lang="tr-TR" dirty="0"/>
          </a:p>
          <a:p>
            <a:pPr algn="ctr"/>
            <a:endParaRPr lang="tr-TR" dirty="0"/>
          </a:p>
          <a:p>
            <a:pPr algn="ctr"/>
            <a:endParaRPr lang="tr-TR" dirty="0"/>
          </a:p>
          <a:p>
            <a:pPr algn="ctr"/>
            <a:endParaRPr lang="tr-TR" dirty="0"/>
          </a:p>
          <a:p>
            <a:pPr algn="ctr"/>
            <a:endParaRPr lang="tr-TR" dirty="0"/>
          </a:p>
          <a:p>
            <a:r>
              <a:rPr lang="tr-TR" dirty="0"/>
              <a:t>          Hazırlayanlar:</a:t>
            </a:r>
          </a:p>
          <a:p>
            <a:r>
              <a:rPr lang="tr-TR" dirty="0"/>
              <a:t>          </a:t>
            </a:r>
            <a:r>
              <a:rPr lang="tr-TR" dirty="0">
                <a:solidFill>
                  <a:schemeClr val="accent6"/>
                </a:solidFill>
              </a:rPr>
              <a:t>Muhammed Enes Bostancı</a:t>
            </a:r>
          </a:p>
          <a:p>
            <a:r>
              <a:rPr lang="tr-TR" dirty="0">
                <a:solidFill>
                  <a:schemeClr val="accent6"/>
                </a:solidFill>
              </a:rPr>
              <a:t>          </a:t>
            </a:r>
            <a:r>
              <a:rPr lang="tr-TR" dirty="0" err="1">
                <a:solidFill>
                  <a:schemeClr val="accent6"/>
                </a:solidFill>
              </a:rPr>
              <a:t>Ahmetcan</a:t>
            </a:r>
            <a:r>
              <a:rPr lang="tr-TR" dirty="0">
                <a:solidFill>
                  <a:schemeClr val="accent6"/>
                </a:solidFill>
              </a:rPr>
              <a:t> Çakıcı</a:t>
            </a:r>
          </a:p>
          <a:p>
            <a:r>
              <a:rPr lang="tr-TR" dirty="0">
                <a:solidFill>
                  <a:schemeClr val="accent6"/>
                </a:solidFill>
              </a:rPr>
              <a:t>          Muhammed Emir Subaşı </a:t>
            </a:r>
            <a:r>
              <a:rPr lang="tr-TR" dirty="0"/>
              <a:t>      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0" y="457200"/>
            <a:ext cx="5029200" cy="5943600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0" y="457200"/>
            <a:ext cx="73152" cy="594360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5A31A"/>
                </a:solidFill>
                <a:latin typeface="Segoe UI"/>
              </a:rPr>
              <a:t>NEXUS ESPORTS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4E4E4"/>
                </a:solidFill>
                <a:latin typeface="Segoe UI"/>
              </a:rPr>
              <a:t>İLERİ CSS FİNAL PROJESİ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999A8"/>
                </a:solidFill>
                <a:latin typeface="Segoe UI"/>
              </a:rPr>
              <a:t>CSS </a:t>
            </a:r>
            <a:r>
              <a:rPr sz="1400" b="0" i="0" dirty="0" err="1">
                <a:solidFill>
                  <a:srgbClr val="9999A8"/>
                </a:solidFill>
                <a:latin typeface="Segoe UI"/>
              </a:rPr>
              <a:t>Yapıları</a:t>
            </a:r>
            <a:r>
              <a:rPr sz="1400" b="0" i="0" dirty="0">
                <a:solidFill>
                  <a:srgbClr val="9999A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9999A8"/>
                </a:solidFill>
                <a:latin typeface="Segoe UI"/>
              </a:rPr>
              <a:t>Kullanım</a:t>
            </a:r>
            <a:r>
              <a:rPr sz="1400" b="0" i="0" dirty="0">
                <a:solidFill>
                  <a:srgbClr val="9999A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9999A8"/>
                </a:solidFill>
                <a:latin typeface="Segoe UI"/>
              </a:rPr>
              <a:t>Sunumu</a:t>
            </a:r>
            <a:endParaRPr sz="1400" b="0" i="0" dirty="0">
              <a:solidFill>
                <a:srgbClr val="9999A8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4572000" cy="36576"/>
          </a:xfrm>
          <a:prstGeom prst="rect">
            <a:avLst/>
          </a:prstGeom>
          <a:solidFill>
            <a:srgbClr val="5F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Proje Teması: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4E4E4"/>
                </a:solidFill>
                <a:latin typeface="Segoe UI"/>
              </a:rPr>
              <a:t>Espor Haber &amp; Turnuva Platformu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777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31A"/>
                </a:solidFill>
                <a:latin typeface="Segoe UI"/>
              </a:rPr>
              <a:t>Kullanılan CSS Yapıları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2344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CSS Variables  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234440"/>
            <a:ext cx="54864" cy="38404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170992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8"/>
                </a:solidFill>
                <a:latin typeface="Segoe UI"/>
              </a:rPr>
              <a:t>Flexbox        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8541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CSS Grid       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2185416"/>
            <a:ext cx="54864" cy="38404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266090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8"/>
                </a:solidFill>
                <a:latin typeface="Segoe UI"/>
              </a:rPr>
              <a:t>clamp()        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13639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transition     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3136392"/>
            <a:ext cx="54864" cy="38404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0" y="36118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8"/>
                </a:solidFill>
                <a:latin typeface="Segoe UI"/>
              </a:rPr>
              <a:t>aspect-ratio   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0873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smooth-scroll  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4087368"/>
            <a:ext cx="54864" cy="38404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23760" y="456285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8"/>
                </a:solidFill>
                <a:latin typeface="Segoe UI"/>
              </a:rPr>
              <a:t>:hover         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03834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:focus         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5038344"/>
            <a:ext cx="54864" cy="38404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0" y="5513831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8"/>
                </a:solidFill>
                <a:latin typeface="Segoe UI"/>
              </a:rPr>
              <a:t>Responsive Navbar 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31A"/>
                </a:solidFill>
                <a:latin typeface="Segoe UI"/>
              </a:rPr>
              <a:t>01 — CSS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style.css  •  Satır 9–75  •  :root tanımlamaları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54864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72084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F5F6E"/>
                </a:solidFill>
                <a:latin typeface="Segoe UI"/>
              </a:rPr>
              <a:t>Nexus Esports  •  İleri CSS Final Projesi  •  Karabük Üniversitesi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474720" cy="292608"/>
          </a:xfrm>
          <a:prstGeom prst="rect">
            <a:avLst/>
          </a:prstGeom>
          <a:solidFill>
            <a:srgbClr val="2C2D31"/>
          </a:solidFill>
          <a:ln w="12700">
            <a:solidFill>
              <a:srgbClr val="F5A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54864" cy="29260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905256"/>
            <a:ext cx="3310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31A"/>
                </a:solidFill>
                <a:latin typeface="Segoe UI"/>
              </a:rPr>
              <a:t>Nerede Kullandık?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2618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:root içinde tüm renkler, font büyüklükleri, boşluklar ve geçiş süreleri değişken olarak tanımlandı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609343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var() ile her CSS kuralında yeniden kullanıldı — değişiklik tek noktadan yapılıyor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956815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Renk paleti, tipografi ve layout sabitlerinin tamamı değişken sistemiyle yönetiliyor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95728"/>
            <a:ext cx="5577840" cy="416052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395728"/>
            <a:ext cx="54864" cy="416052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2505456"/>
            <a:ext cx="5394959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style.css — Satır 9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:root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  /* Renk Paleti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--clr-bg:          #1b1c1f;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--clr-surface:     #242528;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--clr-card:        #2c2d31;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--clr-primary:     #f5a31a;   /* Ana turuncu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--clr-live:        #5ec76c;   /* Canlı maç yeşili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4D9EF5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  /* Fluid Yazı Boyutları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--text-base: clamp(0.88rem, 2vw, 0.95rem);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--text-3xl:  clamp(1.6rem,  3.8vw, 2rem);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4D9EF5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  /* Geçişler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--transition:      0.25s ease;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--transition-fast: 0.15s ease;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395728"/>
            <a:ext cx="5788152" cy="416052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2395728"/>
            <a:ext cx="54864" cy="416052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2505456"/>
            <a:ext cx="5605272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Değişkenlerin Kullanımı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.navbar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background: rgba(13, 14, 15, 0.96);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border-bottom: 2px solid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transition: background var(--transition);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.btn-primary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background: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color: #111;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body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font-family: var(--font-body);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background: var(--clr-bg);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color: var(--clr-text);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31A"/>
                </a:solidFill>
                <a:latin typeface="Segoe UI"/>
              </a:rPr>
              <a:t>02 — Flexbox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style.css  •  Navbar, Kart Yapıları, Butonlar, Footer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54864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72084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F5F6E"/>
                </a:solidFill>
                <a:latin typeface="Segoe UI"/>
              </a:rPr>
              <a:t>Nexus Esports  •  İleri CSS Final Projesi  •  Karabük Üniversitesi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474720" cy="292608"/>
          </a:xfrm>
          <a:prstGeom prst="rect">
            <a:avLst/>
          </a:prstGeom>
          <a:solidFill>
            <a:srgbClr val="2C2D31"/>
          </a:solidFill>
          <a:ln w="12700">
            <a:solidFill>
              <a:srgbClr val="F5A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54864" cy="29260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905256"/>
            <a:ext cx="3310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31A"/>
                </a:solidFill>
                <a:latin typeface="Segoe UI"/>
              </a:rPr>
              <a:t>Nerede Kullandık?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2618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Navbar içi yerleşim: logo + linkler + butonlar yatay hizalamak için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609343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Buton (btn) içindeki ikon-metin hizalaması için inline-flex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956815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Haber tikeri, widget başlıkları, kart meta bilgileri, footer sosyal butonları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59152"/>
            <a:ext cx="5577840" cy="420624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359152"/>
            <a:ext cx="54864" cy="420624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2468880"/>
            <a:ext cx="5394959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style.css — Satır 223 — Navbar İç Yerleşim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.nav-inner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align-items: center;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height: 100%;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gap: var(--space-md);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289 — Nav Linkleri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.nav-links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align-items: stretch;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height: 100%;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flex: 1;          /* Kalan alanı kapla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385 — Sağ Aksiyon Grubu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.nav-actions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align-items: center;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gap: var(--space-xs);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margin-left: auto;  /* Sağa yasla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359152"/>
            <a:ext cx="5788152" cy="420624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2359152"/>
            <a:ext cx="54864" cy="420624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2468880"/>
            <a:ext cx="5605272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126 — Butonlar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.btn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inline-flex;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align-items: center;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justify-content: center;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gap: 0.4rem;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464 — Haber Tikeri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.news-ticker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align-items: center;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height: 32px;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overflow: hidden;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1651 — Footer Sosyal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.footer-social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gap: var(--space-xs);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1471 — İletişim Bilgi Listesi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.contact-info-list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flex-direction: column;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gap: var(--space-xs);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31A"/>
                </a:solidFill>
                <a:latin typeface="Segoe UI"/>
              </a:rPr>
              <a:t>03 — CSS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style.css  •  Sayfa Layout, Galeri, Ekip, Footer, İletişim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54864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72084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F5F6E"/>
                </a:solidFill>
                <a:latin typeface="Segoe UI"/>
              </a:rPr>
              <a:t>Nexus Esports  •  İleri CSS Final Projesi  •  Karabük Üniversitesi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474720" cy="292608"/>
          </a:xfrm>
          <a:prstGeom prst="rect">
            <a:avLst/>
          </a:prstGeom>
          <a:solidFill>
            <a:srgbClr val="2C2D31"/>
          </a:solidFill>
          <a:ln w="12700">
            <a:solidFill>
              <a:srgbClr val="F5A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54864" cy="29260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905256"/>
            <a:ext cx="3310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31A"/>
                </a:solidFill>
                <a:latin typeface="Segoe UI"/>
              </a:rPr>
              <a:t>Nerede Kullandık?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2618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Ana sayfa düzeni: Sol içerik (1fr) + Sağ sidebar (300px) — 2 sütunlu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609343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Galeri: 4 sütunlu grid — ilk öğe 2 sütun &amp; 2 satır kaplıyor (featured efekti)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956815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Footer: 4 sütunlu grid  |  Ekip: 4 sütunlu grid  |  İletişim: 2 sütunlu grid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59152"/>
            <a:ext cx="5577840" cy="420624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359152"/>
            <a:ext cx="54864" cy="420624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2468880"/>
            <a:ext cx="5394959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style.css — Satır 524 — Ana Sayfa Layout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.content-grid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grid;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grid-template-columns: 1fr var(--sidebar-width);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gap: var(--space-lg);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align-items: start;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932 — Galeri Grid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.gallery-grid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grid;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grid-template-columns: repeat(4, 1fr);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gap: 3px;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Featured öğe: 2 sütun × 2 satır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.gallery-item:nth-child(1)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grid-column: span 2;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grid-row: span 2;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.gallery-item:nth-child(6) { grid-column: span 2;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359152"/>
            <a:ext cx="5788152" cy="420624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2359152"/>
            <a:ext cx="54864" cy="420624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2468880"/>
            <a:ext cx="5605272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1635 — Footer Grid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.footer-grid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grid;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grid-template-columns: 1.4fr 1fr 1fr 1fr;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gap: var(--space-xl);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1400 — Ekip Kartları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.team-grid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grid;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grid-template-columns: repeat(4, 1fr);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gap: var(--space-sm);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1464 — İletişim Sayfası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.contact-grid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grid;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grid-template-columns: 1fr 1.4fr;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gap: var(--space-xl);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align-items: start;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706 — Öne Çıkan Haberler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.featured-grid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grid;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grid-template-columns: 1.6fr 1fr;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gap: var(--space-xs);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31A"/>
                </a:solidFill>
                <a:latin typeface="Segoe UI"/>
              </a:rPr>
              <a:t>04 — clamp()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style.css  •  Satır 38–55  •  Fluid tipografi ve boşluklar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54864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72084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F5F6E"/>
                </a:solidFill>
                <a:latin typeface="Segoe UI"/>
              </a:rPr>
              <a:t>Nexus Esports  •  İleri CSS Final Projesi  •  Karabük Üniversitesi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474720" cy="292608"/>
          </a:xfrm>
          <a:prstGeom prst="rect">
            <a:avLst/>
          </a:prstGeom>
          <a:solidFill>
            <a:srgbClr val="2C2D31"/>
          </a:solidFill>
          <a:ln w="12700">
            <a:solidFill>
              <a:srgbClr val="F5A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54864" cy="29260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905256"/>
            <a:ext cx="3310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31A"/>
                </a:solidFill>
                <a:latin typeface="Segoe UI"/>
              </a:rPr>
              <a:t>Nerede Kullandık?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2618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Tüm yazı boyutları (--text-xs → --text-4xl) clamp() ile fluid tanımlandı — ekran boyutuna göre otomatik ölçekleniyor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609343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Boşluk sistemi (--space-2xs → --space-2xl) aynı şekilde clamp() ile oluşturuldu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956815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Doğrudan kullanım: .featured-thumb içindeki emoji boyutu, galeri font büyüklüğü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59152"/>
            <a:ext cx="5577840" cy="420624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359152"/>
            <a:ext cx="54864" cy="420624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2468880"/>
            <a:ext cx="5394959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style.css — Satır 38 — Fluid Yazı Boyutları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:root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--text-2xs:  clamp(0.6rem,  1.2vw, 0.68rem);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--text-xs:   clamp(0.7rem,  1.5vw, 0.75rem);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--text-sm:   clamp(0.78rem, 1.7vw, 0.85rem);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--text-base: clamp(0.88rem, 2vw,   0.95rem);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--text-lg:   clamp(1rem,    2.4vw, 1.1rem);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--text-xl:   clamp(1.1rem,  2.8vw, 1.25rem);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--text-2xl:  clamp(1.3rem,  3.2vw, 1.5rem);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--text-3xl:  clamp(1.6rem,  3.8vw, 2rem);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--text-4xl:  clamp(2rem,    4.5vw, 2.5rem);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48 — Fluid Boşluklar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:root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--space-xs:  clamp(0.35rem, 0.8vw,  0.5rem);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--space-sm:  clamp(0.5rem,  1.2vw,  0.75rem);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--space-md:  clamp(0.75rem, 1.8vw,  1rem);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--space-lg:  clamp(1rem,    2.5vw,  1.5rem);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--space-2xl: clamp(2.5rem,  5vw,    4rem);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359152"/>
            <a:ext cx="5788152" cy="420624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2359152"/>
            <a:ext cx="54864" cy="420624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2468880"/>
            <a:ext cx="5605272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Doğrudan clamp() Kullanımı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1">
              <a:solidFill>
                <a:srgbClr val="5F5F6E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615 — Öne Çıkan Haber Thumbnailı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.featured-thumb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font-size: clamp(2rem, 5vw, 4rem);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957 — Galeri İkon Boyutu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.gallery-thumb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font-size: clamp(1rem, 2.5vw, 2rem);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1426 — Ekip Avatar İkon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.team-avatar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font-size: clamp(2rem, 4vw, 3.5rem);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clamp(min, tercih, max) mantığı: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— min: en küçük boyut (mobil)   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— tercih: vw ile orantılı       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— max: en büyük boyut (masaüstü) */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31A"/>
                </a:solidFill>
                <a:latin typeface="Segoe UI"/>
              </a:rPr>
              <a:t>05 —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style.css  •  Navbar, Butonlar, Kartlar, Galeri, Footer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54864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72084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F5F6E"/>
                </a:solidFill>
                <a:latin typeface="Segoe UI"/>
              </a:rPr>
              <a:t>Nexus Esports  •  İleri CSS Final Projesi  •  Karabük Üniversitesi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474720" cy="292608"/>
          </a:xfrm>
          <a:prstGeom prst="rect">
            <a:avLst/>
          </a:prstGeom>
          <a:solidFill>
            <a:srgbClr val="2C2D31"/>
          </a:solidFill>
          <a:ln w="12700">
            <a:solidFill>
              <a:srgbClr val="F5A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54864" cy="29260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905256"/>
            <a:ext cx="3310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31A"/>
                </a:solidFill>
                <a:latin typeface="Segoe UI"/>
              </a:rPr>
              <a:t>Nerede Kullandık?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2618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Navbar: scroll'da arka plan + blur geçişi, link hover altı çizgi animasyonu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5544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Butonlar: renk, ölçek ve kenarlık geçişleri hover/focus'ta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84708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Kart hover: translateY(-3px) yukarı kayma efekti ile gölge geçişi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13969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Galeri: overlay opacity ve görsel scale geçişleri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31720"/>
            <a:ext cx="5577840" cy="425196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331720"/>
            <a:ext cx="54864" cy="425196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2441448"/>
            <a:ext cx="5394959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style.css — Satır 213 — Navbar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.navbar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transition: background var(--transition),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            box-shadow var(--transition),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            backdrop-filter var(--transition);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139 — Buton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.btn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transition: all var(--transition);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.btn-nav-register:hover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background: #ffbe3a;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transform: translateY(-1px);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327 — Navbar link altı çizgi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.nav-link::after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transition: left 0.22s ease, right 0.22s ease;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.nav-link:hover::after { left: 12%; right: 12%;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331720"/>
            <a:ext cx="5788152" cy="425196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2331720"/>
            <a:ext cx="54864" cy="425196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0488" y="2441448"/>
            <a:ext cx="5605272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1412 — Ekip Kartı Hover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.team-card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transition: all var(--transition);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.team-card:hover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transform: translateY(-3px);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box-shadow: var(--shadow);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958 — Galeri Görseli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.gallery-thumb img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transition: transform 0.4s ease;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.gallery-item:hover .gallery-thumb img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transform: scale(1.06);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987 — Galeri Overlay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.gallery-overlay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opacity: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transition: opacity var(--transition);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.gallery-item:hover .gallery-overlay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opacity: 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634 — Featured Görsel Zoom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.featured-thumb img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transition: transform 0.4s ease;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31A"/>
                </a:solidFill>
                <a:latin typeface="Segoe UI"/>
              </a:rPr>
              <a:t>06 — aspect-ratio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style.css  •  Satır 610, 734, 950–974, 1422  •  Görseller ve Kartlar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54864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72084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F5F6E"/>
                </a:solidFill>
                <a:latin typeface="Segoe UI"/>
              </a:rPr>
              <a:t>Nexus Esports  •  İleri CSS Final Projesi  •  Karabük Üniversitesi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474720" cy="292608"/>
          </a:xfrm>
          <a:prstGeom prst="rect">
            <a:avLst/>
          </a:prstGeom>
          <a:solidFill>
            <a:srgbClr val="2C2D31"/>
          </a:solidFill>
          <a:ln w="12700">
            <a:solidFill>
              <a:srgbClr val="F5A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54864" cy="29260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905256"/>
            <a:ext cx="3310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31A"/>
                </a:solidFill>
                <a:latin typeface="Segoe UI"/>
              </a:rPr>
              <a:t>Nerede Kullandık?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2618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Öne çıkan haber kartları: 16/9 ve 16/7 oranlarıyla responsive thumbnail alanı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609343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Galeri ızgarası: standart 16/9, kare 1/1 (featured öğe), panoramik 32/9 (geniş öğe)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956815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Ekip avatarı: 1/1 ile her zaman kare görünüm — taşma olmadan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59152"/>
            <a:ext cx="5577840" cy="420624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359152"/>
            <a:ext cx="54864" cy="420624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2468880"/>
            <a:ext cx="5394959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style.css — Satır 608 — Haber Thumbnail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.featured-thumb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aspect-ratio: 16 / 9;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width: 100%;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overflow: hidden;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Ana büyük kart daha geniş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.featured-main .featured-thumb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aspect-ratio: 16 / 7;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732 — Küçük Haber Kartı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.news-card-thumb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aspect-ratio: 16 / 9;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width: 80px;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flex-shrink: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1422 — Ekip Avatarı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.team-avatar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aspect-ratio: 1;   /* Kare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align-items: center;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justify-content: center;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359152"/>
            <a:ext cx="5788152" cy="420624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2359152"/>
            <a:ext cx="54864" cy="420624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2468880"/>
            <a:ext cx="5605272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950 — Galeri Thumbnail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.gallery-thumb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aspect-ratio: 16 / 9;  /* Standart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width: 100%;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overflow: hidden;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Featured (ilk) öğe — Kare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.gallery-item:nth-child(1) .gallery-thumb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aspect-ratio: 1 / 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Geniş (6. öğe) — Panoramik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.gallery-item:nth-child(6) .gallery-thumb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aspect-ratio: 32 / 9;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Responsive'de oranlar güncelleniyor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@media (max-width: 480px)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.gallery-item:nth-child(6) .gallery-thumb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  aspect-ratio: 16 / 9; /* Dar ekranda normalize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31A"/>
                </a:solidFill>
                <a:latin typeface="Segoe UI"/>
              </a:rPr>
              <a:t>07 — smooth-scroll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style.css  •  Satır 87  •  html { scroll-behavior: smooth; 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54864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72084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F5F6E"/>
                </a:solidFill>
                <a:latin typeface="Segoe UI"/>
              </a:rPr>
              <a:t>Nexus Esports  •  İleri CSS Final Projesi  •  Karabük Üniversitesi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474720" cy="292608"/>
          </a:xfrm>
          <a:prstGeom prst="rect">
            <a:avLst/>
          </a:prstGeom>
          <a:solidFill>
            <a:srgbClr val="2C2D31"/>
          </a:solidFill>
          <a:ln w="12700">
            <a:solidFill>
              <a:srgbClr val="F5A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54864" cy="29260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905256"/>
            <a:ext cx="3310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31A"/>
                </a:solidFill>
                <a:latin typeface="Segoe UI"/>
              </a:rPr>
              <a:t>Nerede Kullandık?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2618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html { scroll-behavior: smooth; } — tüm sayfa içi anchor linkleri yumuşak kaydırma yapıyor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609343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index.html navbar'daki '#galeri' linki, maclar.html'deki '#sonuclar' linki ile kullanıldı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956815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Kullanıcı deneyimini iyileştiriyor: hızlı zıplama yerine akıcı geçiş sağlıyor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59152"/>
            <a:ext cx="5577840" cy="137160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359152"/>
            <a:ext cx="54864" cy="137160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2468880"/>
            <a:ext cx="539495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style.css — Satır 87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html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scroll-behavior: smooth;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font-size: 16px;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359152"/>
            <a:ext cx="5788152" cy="265176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2359152"/>
            <a:ext cx="54864" cy="265176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2468880"/>
            <a:ext cx="5605272" cy="2468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&lt;!-- index.html — Satır 60 — Galeri Linki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&lt;a href="index.html#galeri" class="nav-link"&gt;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  Galeri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&lt;!-- index.html — Satır 59 — Sonuçlar Linki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&lt;a href="maclar.html#sonuclar" class="nav-link"&gt;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  Sonuçlar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&lt;!-- Hedef element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&lt;section id="galeri" class="gallery-section"&gt;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  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&lt;/section&gt;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13632"/>
            <a:ext cx="5577840" cy="2651760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913632"/>
            <a:ext cx="54864" cy="2651760"/>
          </a:xfrm>
          <a:prstGeom prst="rect">
            <a:avLst/>
          </a:prstGeom>
          <a:solidFill>
            <a:srgbClr val="4D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97763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9EF5"/>
                </a:solidFill>
                <a:latin typeface="Segoe UI"/>
              </a:rPr>
              <a:t>Nasıl Çalışır?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4340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4E4E4"/>
                </a:solidFill>
                <a:latin typeface="Segoe UI"/>
              </a:rPr>
              <a:t>scroll-behavior: smooth; özelliği HTML'de id ile işaretlenmiş bir hedefe gidildiğinde (örn. href='#galeri') sayfanın o alana anında zıplaması yerine pürüzsüz bir kaydırma animasyonu yapmasını sağlar. JavaScript gerekmez — tamamen CSS ile çözülür.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5166360"/>
            <a:ext cx="5788152" cy="1417320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80760" y="5166360"/>
            <a:ext cx="54864" cy="1417320"/>
          </a:xfrm>
          <a:prstGeom prst="rect">
            <a:avLst/>
          </a:prstGeom>
          <a:solidFill>
            <a:srgbClr val="5EC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52303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EC76C"/>
                </a:solidFill>
                <a:latin typeface="Segoe UI"/>
              </a:rPr>
              <a:t>Erişilebilirlik Notu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55955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prefers-reduced-motion medya sorgusu ile animasyonu hareket hassasiyeti olan kullanıcılar için devre dışı bırakmak erişilebilirlik açısından iyi pratiktir.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31A"/>
                </a:solidFill>
                <a:latin typeface="Segoe UI"/>
              </a:rPr>
              <a:t>08 — :hover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style.css  •  Navbar, Butonlar, Kartlar, Galeri, Footer linkleri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54864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72084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F5F6E"/>
                </a:solidFill>
                <a:latin typeface="Segoe UI"/>
              </a:rPr>
              <a:t>Nexus Esports  •  İleri CSS Final Projesi  •  Karabük Üniversitesi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474720" cy="292608"/>
          </a:xfrm>
          <a:prstGeom prst="rect">
            <a:avLst/>
          </a:prstGeom>
          <a:solidFill>
            <a:srgbClr val="2C2D31"/>
          </a:solidFill>
          <a:ln w="12700">
            <a:solidFill>
              <a:srgbClr val="F5A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54864" cy="29260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905256"/>
            <a:ext cx="3310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31A"/>
                </a:solidFill>
                <a:latin typeface="Segoe UI"/>
              </a:rPr>
              <a:t>Nerede Kullandık?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2618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Nav linkleri: renk değişimi + altı çizgi yay animasyonu hover'da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5544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Kartlar (haber, ekip, featured): translateY ile yukarı kalkma efekti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84708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Galeri: overlay belirme + görsel zoom efekti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13969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Footer linkleri ve sosyal medya butonları: renk + arka plan geçişi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9913" y="2372868"/>
            <a:ext cx="5577840" cy="4279392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304288"/>
            <a:ext cx="54864" cy="4279392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2528317"/>
            <a:ext cx="5394959" cy="40965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style.css — Satır 337 — Nav Link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.nav-link:hover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color: var(--clr-text);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background: rgba(255, 255, 255, 0.035);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.nav-link:hover::after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left: 12%; right: 12%; /* Altı çizgi yayılıyor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149 — Birincil Buton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.btn-primary:hover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background: #ffb830;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border-color: #ffb830;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245 — Logo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.nav-logo:hover { opacity: 0.88;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.nav-logo:hover .logo-mark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transform: scale(1.08) rotate(-4deg);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304288"/>
            <a:ext cx="5788152" cy="4279392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2304288"/>
            <a:ext cx="54864" cy="4279392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0488" y="2414016"/>
            <a:ext cx="5605272" cy="40965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415 — Ekip Kartı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.team-card:hover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border-color: var(--clr-border-md);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transform: translateY(-3px);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box-shadow: var(--shadow);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971 — Galeri Overlay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.gallery-item:hover .gallery-overlay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opacity: 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.gallery-item:hover .gallery-thumb img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transform: scale(1.06);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1697 — Footer Link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.footer-link:hover { color: var(--clr-primary);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4D9EF5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1668 — Sosyal Medya Butonu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.social-btn:hover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background: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border-color: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color: #111;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transform: translateY(-2px);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501 — Ticker Duraklatma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.ticker-items:hover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animation-play-state: paused;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31A"/>
                </a:solidFill>
                <a:latin typeface="Segoe UI"/>
              </a:rPr>
              <a:t>09 — :focus  /  :focus-visible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style.css  •  Tüm etkileşimli öğeler — Klavye erişilebilirliği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54864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72084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F5F6E"/>
                </a:solidFill>
                <a:latin typeface="Segoe UI"/>
              </a:rPr>
              <a:t>Nexus Esports  •  İleri CSS Final Projesi  •  Karabük Üniversitesi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474720" cy="292608"/>
          </a:xfrm>
          <a:prstGeom prst="rect">
            <a:avLst/>
          </a:prstGeom>
          <a:solidFill>
            <a:srgbClr val="2C2D31"/>
          </a:solidFill>
          <a:ln w="12700">
            <a:solidFill>
              <a:srgbClr val="F5A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54864" cy="29260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905256"/>
            <a:ext cx="3310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31A"/>
                </a:solidFill>
                <a:latin typeface="Segoe UI"/>
              </a:rPr>
              <a:t>Nerede Kullandık?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2618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Tüm butonlar, linkler ve form öğeleri için 2px turuncu outline focus efekti uygulandı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609343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:focus-visible kullanılarak yalnızca klavye kullanıcılarına görünüyor (fare tıklamasında değil)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956815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Form input ve textarea'larda border + glow efekti ile odak göstergesi sağlandı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59152"/>
            <a:ext cx="5577840" cy="420624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359152"/>
            <a:ext cx="54864" cy="420624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2468880"/>
            <a:ext cx="5394959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style.css — Satır 150 — Birincil Buton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.btn-primary:focus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outline: 2px solid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outline-offset: 3px;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158 — Ghost Buton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.btn-ghost:focus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outline: 2px solid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outline-offset: 3px;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246 — Logo Linki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.nav-logo:focus-visible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outline: 2px solid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outline-offset: 4px;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border-radius: 3px;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348 — Nav Linki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.nav-link:focus-visible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outline: 2px solid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outline-offset: -2px;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color: var(--clr-text);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359152"/>
            <a:ext cx="5788152" cy="420624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2359152"/>
            <a:ext cx="54864" cy="420624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2468880"/>
            <a:ext cx="5605272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409 — Arama Butonu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.nav-search-btn:focus-visible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outline: 2px solid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447 — Hamburger Butonu (Mobil)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.nav-toggle:focus-visible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outline: 2px solid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1675 — Footer Sosyal Buton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.social-btn:focus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outline: 2px solid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outline-offset: 2px;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1698 — Footer Link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.footer-link:focus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outline: 2px solid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outline-offset: 2px;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border-radius: 2px;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color: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Form Input Focus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.form-input:focus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border-color: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box-shadow: 0 0 0 3px var(--clr-primary-dim);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outline: none;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31A"/>
                </a:solidFill>
                <a:latin typeface="Segoe UI"/>
              </a:rPr>
              <a:t>10 — Responsive Navbar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8"/>
                </a:solidFill>
                <a:latin typeface="Segoe UI"/>
              </a:rPr>
              <a:t>style.css  •  Satır 2507–2545  •  @media (max-width: 768px)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54864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72084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F5F6E"/>
                </a:solidFill>
                <a:latin typeface="Segoe UI"/>
              </a:rPr>
              <a:t>Nexus Esports  •  İleri CSS Final Projesi  •  Karabük Üniversitesi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474720" cy="292608"/>
          </a:xfrm>
          <a:prstGeom prst="rect">
            <a:avLst/>
          </a:prstGeom>
          <a:solidFill>
            <a:srgbClr val="2C2D31"/>
          </a:solidFill>
          <a:ln w="12700">
            <a:solidFill>
              <a:srgbClr val="F5A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868680"/>
            <a:ext cx="54864" cy="292608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905256"/>
            <a:ext cx="3310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31A"/>
                </a:solidFill>
                <a:latin typeface="Segoe UI"/>
              </a:rPr>
              <a:t>Nerede Kullandık?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2618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Masaüstü: yatay flexbox navbar — tüm linkler görünür, hamburger gizli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609343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Mobil (≤768px): linkler açılır menü olarak sayfanın altına iniyor, hamburger butonu gösteriliyor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956815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4"/>
                </a:solidFill>
                <a:latin typeface="Segoe UI"/>
              </a:rPr>
              <a:t>  ▸  Animasyonlu açılma: translateY(-110%) → translateY(0) + opacity geçişi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1720"/>
            <a:ext cx="5577840" cy="425196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331720"/>
            <a:ext cx="54864" cy="425196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2441448"/>
            <a:ext cx="5394959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style.css — Satır 432 — Hamburger (varsayılan gizli)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.nav-toggle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none;  /* Masaüstünde gizli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2507 — Mobil: 768px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@media (max-width: 768px)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  .nav-links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  position: fixed;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  top: var(--nav-height);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  left: 0; right: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  flex-direction: column;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  background: rgba(10, 11, 12, 0.98);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  backdrop-filter: blur(20px);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  border-bottom: 2px solid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  transform: translateY(-110%);  /* Başlangıçta gizli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  opacity: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  transition: transform 0.3s cubic-bezier(0.4,0,0.2,1),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                opacity 0.3s ease;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  .nav-links.open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  transform: translateY(0);   /* Açıldığında görünür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  opacity: 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.nav-toggle { display: flex; }  /* Hamburger görünür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331720"/>
            <a:ext cx="5788152" cy="4251960"/>
          </a:xfrm>
          <a:prstGeom prst="rect">
            <a:avLst/>
          </a:prstGeom>
          <a:solidFill>
            <a:srgbClr val="12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2331720"/>
            <a:ext cx="54864" cy="4251960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2441448"/>
            <a:ext cx="5605272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Satır 449 — Hamburger Animasyonu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.nav-toggle span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display: block;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width: 18px; height: 2px;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background: var(--clr-text-muted);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transition: all 0.25s ease;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transform-origin: center;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X şekline dönüşüm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.nav-toggle.open span:nth-child(1)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transform: translateY(7px) rotate(45deg);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background: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.nav-toggle.open span:nth-child(2)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opacity: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transform: scaleX(0);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.nav-toggle.open span:nth-child(3)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9999A8"/>
                </a:solidFill>
                <a:latin typeface="Consolas"/>
              </a:rPr>
              <a:t>  transform: translateY(-7px) rotate(-45deg);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background: var(--clr-primary);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i="0">
              <a:solidFill>
                <a:srgbClr val="E4E4E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1">
                <a:solidFill>
                  <a:srgbClr val="5F5F6E"/>
                </a:solidFill>
                <a:latin typeface="Consolas"/>
              </a:rPr>
              <a:t>/* Tablet: 900px — Sidebar tek sütuna düşüyor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@media (max-width: 900px)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  .content-grid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4D9EF5"/>
                </a:solidFill>
                <a:latin typeface="Consolas"/>
              </a:rPr>
              <a:t>    grid-template-columns: 1fr;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E4E4E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31A"/>
                </a:solidFill>
                <a:latin typeface="Segoe UI"/>
              </a:rPr>
              <a:t>Kullanılan CSS Yapıları — Özet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48872" cy="329184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896112"/>
            <a:ext cx="11548872" cy="36576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932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31A"/>
                </a:solidFill>
                <a:latin typeface="Segoe UI"/>
              </a:rPr>
              <a:t>CSS Özelliği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2" y="932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31A"/>
                </a:solidFill>
                <a:latin typeface="Segoe UI"/>
              </a:rPr>
              <a:t>Nerede / Nasıl Kullanıldı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1" y="9326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31A"/>
                </a:solidFill>
                <a:latin typeface="Segoe UI"/>
              </a:rPr>
              <a:t>Satır Referansı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61872"/>
            <a:ext cx="11548872" cy="493776"/>
          </a:xfrm>
          <a:prstGeom prst="rect">
            <a:avLst/>
          </a:prstGeom>
          <a:solidFill>
            <a:srgbClr val="2C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261872"/>
            <a:ext cx="45720" cy="493776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131673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4E4E4"/>
                </a:solidFill>
                <a:latin typeface="Segoe UI"/>
              </a:rPr>
              <a:t>CSS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31673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A8"/>
                </a:solidFill>
                <a:latin typeface="Segoe UI"/>
              </a:rPr>
              <a:t>:root'ta 40+ değişken — renkler, tipografi, boşluklar, geçişler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31673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F5F6E"/>
                </a:solidFill>
                <a:latin typeface="Segoe UI"/>
              </a:rPr>
              <a:t>style.css Satır 9–75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773936"/>
            <a:ext cx="11548872" cy="493776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1828800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4E4E4"/>
                </a:solidFill>
                <a:latin typeface="Segoe UI"/>
              </a:rPr>
              <a:t>Flexbox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1828800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A8"/>
                </a:solidFill>
                <a:latin typeface="Segoe UI"/>
              </a:rPr>
              <a:t>Navbar, butonlar, ticker, kartlar, footer sosyal alan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82880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F5F6E"/>
                </a:solidFill>
                <a:latin typeface="Segoe UI"/>
              </a:rPr>
              <a:t>Satır 126, 223, 385, 464…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86000"/>
            <a:ext cx="11548872" cy="493776"/>
          </a:xfrm>
          <a:prstGeom prst="rect">
            <a:avLst/>
          </a:prstGeom>
          <a:solidFill>
            <a:srgbClr val="2C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2286000"/>
            <a:ext cx="45720" cy="493776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" y="234086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4E4E4"/>
                </a:solidFill>
                <a:latin typeface="Segoe UI"/>
              </a:rPr>
              <a:t>CSS Grid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34086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A8"/>
                </a:solidFill>
                <a:latin typeface="Segoe UI"/>
              </a:rPr>
              <a:t>Ana layout, galeri (span), footer, ekip, iletişim sayfası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340864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F5F6E"/>
                </a:solidFill>
                <a:latin typeface="Segoe UI"/>
              </a:rPr>
              <a:t>Satır 526, 935, 1401, 1637…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98064"/>
            <a:ext cx="11548872" cy="493776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" y="285292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4E4E4"/>
                </a:solidFill>
                <a:latin typeface="Segoe UI"/>
              </a:rPr>
              <a:t>clamp()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85292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A8"/>
                </a:solidFill>
                <a:latin typeface="Segoe UI"/>
              </a:rPr>
              <a:t>9 fluid text + 7 fluid space değişkeni, doğrudan kullanım (3 yer)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85292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F5F6E"/>
                </a:solidFill>
                <a:latin typeface="Segoe UI"/>
              </a:rPr>
              <a:t>Satır 38–55, 615, 957, 1426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310128"/>
            <a:ext cx="11548872" cy="493776"/>
          </a:xfrm>
          <a:prstGeom prst="rect">
            <a:avLst/>
          </a:prstGeom>
          <a:solidFill>
            <a:srgbClr val="2C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310128"/>
            <a:ext cx="45720" cy="493776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" y="336499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4E4E4"/>
                </a:solidFill>
                <a:latin typeface="Segoe UI"/>
              </a:rPr>
              <a:t>transition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3364992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A8"/>
                </a:solidFill>
                <a:latin typeface="Segoe UI"/>
              </a:rPr>
              <a:t>Navbar, butonlar, kartlar, galeri overlay, footer sosyal butonları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36499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F5F6E"/>
                </a:solidFill>
                <a:latin typeface="Segoe UI"/>
              </a:rPr>
              <a:t>Satır 139, 213, 322, 958…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822191"/>
            <a:ext cx="11548872" cy="493776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" y="3877055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4E4E4"/>
                </a:solidFill>
                <a:latin typeface="Segoe UI"/>
              </a:rPr>
              <a:t>aspect-ratio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3877055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A8"/>
                </a:solidFill>
                <a:latin typeface="Segoe UI"/>
              </a:rPr>
              <a:t>Haber thumbnail (16/9, 16/7), galeri (1/1, 32/9), ekip avatar (1)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877055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F5F6E"/>
                </a:solidFill>
                <a:latin typeface="Segoe UI"/>
              </a:rPr>
              <a:t>Satır 610, 620, 952, 973…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34256"/>
            <a:ext cx="11548872" cy="493776"/>
          </a:xfrm>
          <a:prstGeom prst="rect">
            <a:avLst/>
          </a:prstGeom>
          <a:solidFill>
            <a:srgbClr val="2C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4334256"/>
            <a:ext cx="45720" cy="493776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" y="4389120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4E4E4"/>
                </a:solidFill>
                <a:latin typeface="Segoe UI"/>
              </a:rPr>
              <a:t>smooth-scroll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389120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A8"/>
                </a:solidFill>
                <a:latin typeface="Segoe UI"/>
              </a:rPr>
              <a:t>html { scroll-behavior: smooth } — tüm sayfa içi anchor linkleri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38912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F5F6E"/>
                </a:solidFill>
                <a:latin typeface="Segoe UI"/>
              </a:rPr>
              <a:t>Satır 87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846320"/>
            <a:ext cx="11548872" cy="493776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9768" y="490118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4E4E4"/>
                </a:solidFill>
                <a:latin typeface="Segoe UI"/>
              </a:rPr>
              <a:t>:hover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490118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A8"/>
                </a:solidFill>
                <a:latin typeface="Segoe UI"/>
              </a:rPr>
              <a:t>Nav linkler, logo, kartlar, galeri, footer linkler, sosyal butonlar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901184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F5F6E"/>
                </a:solidFill>
                <a:latin typeface="Segoe UI"/>
              </a:rPr>
              <a:t>Satır 149, 245, 337, 971…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358384"/>
            <a:ext cx="11548872" cy="493776"/>
          </a:xfrm>
          <a:prstGeom prst="rect">
            <a:avLst/>
          </a:prstGeom>
          <a:solidFill>
            <a:srgbClr val="2C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0040" y="5358384"/>
            <a:ext cx="45720" cy="493776"/>
          </a:xfrm>
          <a:prstGeom prst="rect">
            <a:avLst/>
          </a:prstGeom>
          <a:solidFill>
            <a:srgbClr val="F5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9768" y="541324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4E4E4"/>
                </a:solidFill>
                <a:latin typeface="Segoe UI"/>
              </a:rPr>
              <a:t>:focus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541324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A8"/>
                </a:solidFill>
                <a:latin typeface="Segoe UI"/>
              </a:rPr>
              <a:t>Tüm etkileşimli öğeler — :focus-visible ile klavye erişilebilirliği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41324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F5F6E"/>
                </a:solidFill>
                <a:latin typeface="Segoe UI"/>
              </a:rPr>
              <a:t>Satır 150, 246, 348, 409…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870448"/>
            <a:ext cx="11548872" cy="493776"/>
          </a:xfrm>
          <a:prstGeom prst="rect">
            <a:avLst/>
          </a:prstGeom>
          <a:solidFill>
            <a:srgbClr val="24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9768" y="592531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4E4E4"/>
                </a:solidFill>
                <a:latin typeface="Segoe UI"/>
              </a:rPr>
              <a:t>Responsive Navbar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1760" y="5925312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A8"/>
                </a:solidFill>
                <a:latin typeface="Segoe UI"/>
              </a:rPr>
              <a:t>Hamburger menü + translateY animasyonu — @media 768px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592531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F5F6E"/>
                </a:solidFill>
                <a:latin typeface="Segoe UI"/>
              </a:rPr>
              <a:t>Satır 432, 2507–2545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3574</Words>
  <Application>Microsoft Office PowerPoint</Application>
  <PresentationFormat>Özel</PresentationFormat>
  <Paragraphs>589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2026-05-17T14:53:44Z</dcterms:modified>
  <cp:category/>
</cp:coreProperties>
</file>